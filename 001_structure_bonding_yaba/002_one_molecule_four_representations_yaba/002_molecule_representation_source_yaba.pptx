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uckiest Guy" charset="1" panose="02000506000000020004"/>
      <p:regular r:id="rId17"/>
    </p:embeddedFont>
    <p:embeddedFont>
      <p:font typeface="Bangers" charset="1" panose="00000500000000000000"/>
      <p:regular r:id="rId18"/>
    </p:embeddedFont>
    <p:embeddedFont>
      <p:font typeface="Bitter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3659" y="1556772"/>
            <a:ext cx="16235641" cy="6842318"/>
            <a:chOff x="0" y="0"/>
            <a:chExt cx="21647521" cy="912309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69461"/>
              <a:ext cx="21647521" cy="9053367"/>
              <a:chOff x="0" y="0"/>
              <a:chExt cx="3098007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098007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3098007">
                    <a:moveTo>
                      <a:pt x="32159" y="0"/>
                    </a:moveTo>
                    <a:lnTo>
                      <a:pt x="3065848" y="0"/>
                    </a:lnTo>
                    <a:cubicBezTo>
                      <a:pt x="3074377" y="0"/>
                      <a:pt x="3082557" y="3388"/>
                      <a:pt x="3088588" y="9419"/>
                    </a:cubicBezTo>
                    <a:cubicBezTo>
                      <a:pt x="3094619" y="15450"/>
                      <a:pt x="3098007" y="23630"/>
                      <a:pt x="3098007" y="32159"/>
                    </a:cubicBezTo>
                    <a:lnTo>
                      <a:pt x="3098007" y="1263481"/>
                    </a:lnTo>
                    <a:cubicBezTo>
                      <a:pt x="3098007" y="1272010"/>
                      <a:pt x="3094619" y="1280190"/>
                      <a:pt x="3088588" y="1286221"/>
                    </a:cubicBezTo>
                    <a:cubicBezTo>
                      <a:pt x="3082557" y="1292252"/>
                      <a:pt x="3074377" y="1295640"/>
                      <a:pt x="3065848" y="1295640"/>
                    </a:cubicBezTo>
                    <a:lnTo>
                      <a:pt x="32159" y="1295640"/>
                    </a:lnTo>
                    <a:cubicBezTo>
                      <a:pt x="23630" y="1295640"/>
                      <a:pt x="15450" y="1292252"/>
                      <a:pt x="9419" y="1286221"/>
                    </a:cubicBezTo>
                    <a:cubicBezTo>
                      <a:pt x="3388" y="1280190"/>
                      <a:pt x="0" y="1272010"/>
                      <a:pt x="0" y="1263481"/>
                    </a:cubicBezTo>
                    <a:lnTo>
                      <a:pt x="0" y="32159"/>
                    </a:lnTo>
                    <a:cubicBezTo>
                      <a:pt x="0" y="23630"/>
                      <a:pt x="3388" y="15450"/>
                      <a:pt x="9419" y="9419"/>
                    </a:cubicBezTo>
                    <a:cubicBezTo>
                      <a:pt x="15450" y="3388"/>
                      <a:pt x="23630" y="0"/>
                      <a:pt x="32159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098007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72"/>
              <a:ext cx="21647521" cy="1804723"/>
              <a:chOff x="0" y="0"/>
              <a:chExt cx="3098007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098007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3098007">
                    <a:moveTo>
                      <a:pt x="32159" y="0"/>
                    </a:moveTo>
                    <a:lnTo>
                      <a:pt x="3065848" y="0"/>
                    </a:lnTo>
                    <a:cubicBezTo>
                      <a:pt x="3074377" y="0"/>
                      <a:pt x="3082557" y="3388"/>
                      <a:pt x="3088588" y="9419"/>
                    </a:cubicBezTo>
                    <a:cubicBezTo>
                      <a:pt x="3094619" y="15450"/>
                      <a:pt x="3098007" y="23630"/>
                      <a:pt x="3098007" y="32159"/>
                    </a:cubicBezTo>
                    <a:lnTo>
                      <a:pt x="3098007" y="226117"/>
                    </a:lnTo>
                    <a:cubicBezTo>
                      <a:pt x="3098007" y="234646"/>
                      <a:pt x="3094619" y="242826"/>
                      <a:pt x="3088588" y="248857"/>
                    </a:cubicBezTo>
                    <a:cubicBezTo>
                      <a:pt x="3082557" y="254888"/>
                      <a:pt x="3074377" y="258276"/>
                      <a:pt x="3065848" y="258276"/>
                    </a:cubicBezTo>
                    <a:lnTo>
                      <a:pt x="32159" y="258276"/>
                    </a:lnTo>
                    <a:cubicBezTo>
                      <a:pt x="23630" y="258276"/>
                      <a:pt x="15450" y="254888"/>
                      <a:pt x="9419" y="248857"/>
                    </a:cubicBezTo>
                    <a:cubicBezTo>
                      <a:pt x="3388" y="242826"/>
                      <a:pt x="0" y="234646"/>
                      <a:pt x="0" y="226117"/>
                    </a:cubicBezTo>
                    <a:lnTo>
                      <a:pt x="0" y="32159"/>
                    </a:lnTo>
                    <a:cubicBezTo>
                      <a:pt x="0" y="23630"/>
                      <a:pt x="3388" y="15450"/>
                      <a:pt x="9419" y="9419"/>
                    </a:cubicBezTo>
                    <a:cubicBezTo>
                      <a:pt x="15450" y="3388"/>
                      <a:pt x="23630" y="0"/>
                      <a:pt x="32159" y="0"/>
                    </a:cubicBezTo>
                    <a:close/>
                  </a:path>
                </a:pathLst>
              </a:custGeom>
              <a:solidFill>
                <a:srgbClr val="E5181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3098007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902534"/>
              <a:ext cx="21647521" cy="902361"/>
              <a:chOff x="0" y="0"/>
              <a:chExt cx="3098007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098007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3098007">
                    <a:moveTo>
                      <a:pt x="0" y="0"/>
                    </a:moveTo>
                    <a:lnTo>
                      <a:pt x="3098007" y="0"/>
                    </a:lnTo>
                    <a:lnTo>
                      <a:pt x="3098007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05CC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3098007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AutoShape 12" id="12"/>
            <p:cNvSpPr/>
            <p:nvPr/>
          </p:nvSpPr>
          <p:spPr>
            <a:xfrm flipH="true">
              <a:off x="15776370" y="263"/>
              <a:ext cx="63835" cy="9122565"/>
            </a:xfrm>
            <a:prstGeom prst="line">
              <a:avLst/>
            </a:prstGeom>
            <a:ln cap="flat" w="75132">
              <a:solidFill>
                <a:srgbClr val="000000"/>
              </a:solidFill>
              <a:prstDash val="lgDash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16767587" y="3202763"/>
              <a:ext cx="2130297" cy="540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65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6767587" y="4557254"/>
              <a:ext cx="2130297" cy="540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65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6767587" y="5911744"/>
              <a:ext cx="2130297" cy="540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6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914834" y="1556772"/>
            <a:ext cx="2172233" cy="6842318"/>
          </a:xfrm>
          <a:custGeom>
            <a:avLst/>
            <a:gdLst/>
            <a:ahLst/>
            <a:cxnLst/>
            <a:rect r="r" b="b" t="t" l="l"/>
            <a:pathLst>
              <a:path h="6842318" w="2172233">
                <a:moveTo>
                  <a:pt x="0" y="0"/>
                </a:moveTo>
                <a:lnTo>
                  <a:pt x="2172233" y="0"/>
                </a:lnTo>
                <a:lnTo>
                  <a:pt x="2172233" y="6842318"/>
                </a:lnTo>
                <a:lnTo>
                  <a:pt x="0" y="6842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63" r="-99999" b="-10745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914834" y="1556772"/>
            <a:ext cx="4344466" cy="6842318"/>
          </a:xfrm>
          <a:custGeom>
            <a:avLst/>
            <a:gdLst/>
            <a:ahLst/>
            <a:cxnLst/>
            <a:rect r="r" b="b" t="t" l="l"/>
            <a:pathLst>
              <a:path h="6842318" w="4344466">
                <a:moveTo>
                  <a:pt x="0" y="0"/>
                </a:moveTo>
                <a:lnTo>
                  <a:pt x="4344466" y="0"/>
                </a:lnTo>
                <a:lnTo>
                  <a:pt x="4344466" y="6842318"/>
                </a:lnTo>
                <a:lnTo>
                  <a:pt x="0" y="6842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63" r="0" b="-1074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6062" y="6258587"/>
            <a:ext cx="10621436" cy="94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0"/>
              </a:lnSpc>
            </a:pPr>
            <a:r>
              <a:rPr lang="en-US" sz="6430">
                <a:solidFill>
                  <a:srgbClr val="E51818"/>
                </a:solidFill>
                <a:latin typeface="Luckiest Guy"/>
                <a:ea typeface="Luckiest Guy"/>
                <a:cs typeface="Luckiest Guy"/>
                <a:sym typeface="Luckiest Guy"/>
              </a:rPr>
              <a:t> CHEMICAL ENGINEERING 2A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9094" y="1833050"/>
            <a:ext cx="11329752" cy="106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08"/>
              </a:lnSpc>
            </a:pPr>
            <a:r>
              <a:rPr lang="en-US" sz="7200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ACTIVITY 2 ORGANIC CHEMISTRY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75539" y="3779293"/>
            <a:ext cx="8172637" cy="2232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7350" spc="-147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CLARK DHENIEL M. YABA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682" y="357555"/>
            <a:ext cx="17134637" cy="9571889"/>
            <a:chOff x="0" y="0"/>
            <a:chExt cx="22846182" cy="127625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6935"/>
              <a:ext cx="22846182" cy="12665584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846182" cy="2524792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E5181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62396"/>
              <a:ext cx="22846182" cy="1262396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05CC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96037" y="10165161"/>
              <a:ext cx="2248255" cy="756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8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562" y="2261336"/>
            <a:ext cx="0" cy="7668108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76682" y="5686030"/>
            <a:ext cx="17134637" cy="0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872640" y="3155335"/>
            <a:ext cx="3199111" cy="2231575"/>
          </a:xfrm>
          <a:custGeom>
            <a:avLst/>
            <a:gdLst/>
            <a:ahLst/>
            <a:cxnLst/>
            <a:rect r="r" b="b" t="t" l="l"/>
            <a:pathLst>
              <a:path h="2231575" w="3199111">
                <a:moveTo>
                  <a:pt x="0" y="0"/>
                </a:moveTo>
                <a:lnTo>
                  <a:pt x="3199111" y="0"/>
                </a:lnTo>
                <a:lnTo>
                  <a:pt x="3199111" y="2231575"/>
                </a:lnTo>
                <a:lnTo>
                  <a:pt x="0" y="2231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366464" y="6796313"/>
            <a:ext cx="3955323" cy="2461987"/>
          </a:xfrm>
          <a:custGeom>
            <a:avLst/>
            <a:gdLst/>
            <a:ahLst/>
            <a:cxnLst/>
            <a:rect r="r" b="b" t="t" l="l"/>
            <a:pathLst>
              <a:path h="2461987" w="3955323">
                <a:moveTo>
                  <a:pt x="0" y="0"/>
                </a:moveTo>
                <a:lnTo>
                  <a:pt x="3955323" y="0"/>
                </a:lnTo>
                <a:lnTo>
                  <a:pt x="3955323" y="2461987"/>
                </a:lnTo>
                <a:lnTo>
                  <a:pt x="0" y="246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2167216" y="2481169"/>
            <a:ext cx="5017821" cy="65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8625" indent="-409312" lvl="1">
              <a:lnSpc>
                <a:spcPts val="5308"/>
              </a:lnSpc>
              <a:buAutoNum type="arabicPeriod" startAt="1"/>
            </a:pPr>
            <a:r>
              <a:rPr lang="en-US" sz="3791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66085" y="2481169"/>
            <a:ext cx="4356081" cy="6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8624" indent="-409312" lvl="1">
              <a:lnSpc>
                <a:spcPts val="5308"/>
              </a:lnSpc>
              <a:buAutoNum type="arabicPeriod" startAt="1"/>
            </a:pPr>
            <a:r>
              <a:rPr lang="en-US" sz="3791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0324" y="6072397"/>
            <a:ext cx="7344883" cy="6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7593" indent="-408797" lvl="1">
              <a:lnSpc>
                <a:spcPts val="5301"/>
              </a:lnSpc>
              <a:buAutoNum type="arabicPeriod" startAt="1"/>
            </a:pPr>
            <a:r>
              <a:rPr lang="en-US" sz="3786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0671" y="6072397"/>
            <a:ext cx="7026910" cy="6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7593" indent="-408797" lvl="1">
              <a:lnSpc>
                <a:spcPts val="5301"/>
              </a:lnSpc>
              <a:buAutoNum type="arabicPeriod" startAt="1"/>
            </a:pPr>
            <a:r>
              <a:rPr lang="en-US" sz="3786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81478" y="838625"/>
            <a:ext cx="6325043" cy="1068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4"/>
              </a:lnSpc>
            </a:pPr>
            <a:r>
              <a:rPr lang="en-US" sz="4668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CARD 01 - Propane</a:t>
            </a:r>
          </a:p>
          <a:p>
            <a:pPr algn="ctr">
              <a:lnSpc>
                <a:spcPts val="4014"/>
              </a:lnSpc>
            </a:pPr>
            <a:r>
              <a:rPr lang="en-US" sz="4668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Molecular Formula: C₃H₈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96144" y="2879110"/>
            <a:ext cx="3959964" cy="241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78"/>
              </a:lnSpc>
            </a:pPr>
            <a:r>
              <a:rPr lang="en-US" sz="14199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C₃H₈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86052" y="6901423"/>
            <a:ext cx="6246827" cy="161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36"/>
              </a:lnSpc>
            </a:pPr>
            <a:r>
              <a:rPr lang="en-US" sz="9454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CH₃CH₂CH₃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9471" y="442908"/>
            <a:ext cx="16829058" cy="9401184"/>
            <a:chOff x="0" y="0"/>
            <a:chExt cx="22438744" cy="1253491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5206"/>
              <a:ext cx="22438744" cy="12439706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438744" cy="2479765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E5181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39883"/>
              <a:ext cx="22438744" cy="1239883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05CC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380447" y="9974350"/>
              <a:ext cx="2208159" cy="752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7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748" y="2312737"/>
            <a:ext cx="0" cy="7531355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729471" y="5676355"/>
            <a:ext cx="16829058" cy="0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271277" y="2893612"/>
            <a:ext cx="4252614" cy="2598820"/>
          </a:xfrm>
          <a:custGeom>
            <a:avLst/>
            <a:gdLst/>
            <a:ahLst/>
            <a:cxnLst/>
            <a:rect r="r" b="b" t="t" l="l"/>
            <a:pathLst>
              <a:path h="2598820" w="4252614">
                <a:moveTo>
                  <a:pt x="0" y="0"/>
                </a:moveTo>
                <a:lnTo>
                  <a:pt x="4252614" y="0"/>
                </a:lnTo>
                <a:lnTo>
                  <a:pt x="4252614" y="2598820"/>
                </a:lnTo>
                <a:lnTo>
                  <a:pt x="0" y="2598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798609" y="6701680"/>
            <a:ext cx="2941224" cy="2652868"/>
          </a:xfrm>
          <a:custGeom>
            <a:avLst/>
            <a:gdLst/>
            <a:ahLst/>
            <a:cxnLst/>
            <a:rect r="r" b="b" t="t" l="l"/>
            <a:pathLst>
              <a:path h="2652868" w="2941224">
                <a:moveTo>
                  <a:pt x="0" y="0"/>
                </a:moveTo>
                <a:lnTo>
                  <a:pt x="2941223" y="0"/>
                </a:lnTo>
                <a:lnTo>
                  <a:pt x="2941223" y="2652868"/>
                </a:lnTo>
                <a:lnTo>
                  <a:pt x="0" y="2652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2291640" y="2527120"/>
            <a:ext cx="4928333" cy="647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4025" indent="-402012" lvl="1">
              <a:lnSpc>
                <a:spcPts val="5213"/>
              </a:lnSpc>
              <a:buAutoNum type="arabicPeriod" startAt="1"/>
            </a:pPr>
            <a:r>
              <a:rPr lang="en-US" sz="3724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30023" y="2527120"/>
            <a:ext cx="4278395" cy="647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4025" indent="-402012" lvl="1">
              <a:lnSpc>
                <a:spcPts val="5213"/>
              </a:lnSpc>
              <a:buAutoNum type="arabicPeriod" startAt="1"/>
            </a:pPr>
            <a:r>
              <a:rPr lang="en-US" sz="3724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8859" y="6054303"/>
            <a:ext cx="7213894" cy="64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03012" indent="-401506" lvl="1">
              <a:lnSpc>
                <a:spcPts val="5207"/>
              </a:lnSpc>
              <a:buAutoNum type="arabicPeriod" startAt="1"/>
            </a:pPr>
            <a:r>
              <a:rPr lang="en-US" sz="3719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18424" y="6054303"/>
            <a:ext cx="6901592" cy="64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3012" indent="-401506" lvl="1">
              <a:lnSpc>
                <a:spcPts val="5207"/>
              </a:lnSpc>
              <a:buAutoNum type="arabicPeriod" startAt="1"/>
            </a:pPr>
            <a:r>
              <a:rPr lang="en-US" sz="3719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37879" y="873391"/>
            <a:ext cx="6212243" cy="104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4585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CARD 02 - Ethanol</a:t>
            </a:r>
          </a:p>
          <a:p>
            <a:pPr algn="ctr">
              <a:lnSpc>
                <a:spcPts val="3943"/>
              </a:lnSpc>
            </a:pPr>
            <a:r>
              <a:rPr lang="en-US" sz="4585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Molecular Formula: C₂H₆O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09008" y="3005481"/>
            <a:ext cx="4288154" cy="194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8"/>
              </a:lnSpc>
            </a:pPr>
            <a:r>
              <a:rPr lang="en-US" sz="11399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C₂H₆O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51763" y="6904338"/>
            <a:ext cx="6135422" cy="1600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0"/>
              </a:lnSpc>
            </a:pPr>
            <a:r>
              <a:rPr lang="en-US" sz="9285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CH₃CH₂OH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558" y="339610"/>
            <a:ext cx="17198884" cy="9607779"/>
            <a:chOff x="0" y="0"/>
            <a:chExt cx="22931845" cy="1281037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7299"/>
              <a:ext cx="22931845" cy="12713074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931845" cy="2534259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E5181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67129"/>
              <a:ext cx="22931845" cy="1267129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05CC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762389" y="10203275"/>
              <a:ext cx="2256685" cy="759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85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523" y="2250530"/>
            <a:ext cx="0" cy="7696860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44558" y="5688064"/>
            <a:ext cx="17198884" cy="0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984485" y="2667880"/>
            <a:ext cx="2750779" cy="3020185"/>
          </a:xfrm>
          <a:custGeom>
            <a:avLst/>
            <a:gdLst/>
            <a:ahLst/>
            <a:cxnLst/>
            <a:rect r="r" b="b" t="t" l="l"/>
            <a:pathLst>
              <a:path h="3020185" w="2750779">
                <a:moveTo>
                  <a:pt x="0" y="0"/>
                </a:moveTo>
                <a:lnTo>
                  <a:pt x="2750778" y="0"/>
                </a:lnTo>
                <a:lnTo>
                  <a:pt x="2750778" y="3020184"/>
                </a:lnTo>
                <a:lnTo>
                  <a:pt x="0" y="3020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984485" y="6899789"/>
            <a:ext cx="2448592" cy="2640451"/>
          </a:xfrm>
          <a:custGeom>
            <a:avLst/>
            <a:gdLst/>
            <a:ahLst/>
            <a:cxnLst/>
            <a:rect r="r" b="b" t="t" l="l"/>
            <a:pathLst>
              <a:path h="2640451" w="2448592">
                <a:moveTo>
                  <a:pt x="0" y="0"/>
                </a:moveTo>
                <a:lnTo>
                  <a:pt x="2448592" y="0"/>
                </a:lnTo>
                <a:lnTo>
                  <a:pt x="2448592" y="2640451"/>
                </a:lnTo>
                <a:lnTo>
                  <a:pt x="0" y="26404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7298" b="-262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2141056" y="2471508"/>
            <a:ext cx="5036635" cy="65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693" indent="-410847" lvl="1">
              <a:lnSpc>
                <a:spcPts val="5328"/>
              </a:lnSpc>
              <a:buAutoNum type="arabicPeriod" startAt="1"/>
            </a:pPr>
            <a:r>
              <a:rPr lang="en-US" sz="3805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9129" y="2285950"/>
            <a:ext cx="4372414" cy="65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693" indent="-410847" lvl="1">
              <a:lnSpc>
                <a:spcPts val="5328"/>
              </a:lnSpc>
              <a:buAutoNum type="arabicPeriod" startAt="1"/>
            </a:pPr>
            <a:r>
              <a:rPr lang="en-US" sz="3805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3162" y="6076202"/>
            <a:ext cx="7372423" cy="65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659" indent="-410329" lvl="1">
              <a:lnSpc>
                <a:spcPts val="5321"/>
              </a:lnSpc>
              <a:buAutoNum type="arabicPeriod" startAt="1"/>
            </a:pPr>
            <a:r>
              <a:rPr lang="en-US" sz="3801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245" y="6076202"/>
            <a:ext cx="7053257" cy="65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659" indent="-410329" lvl="1">
              <a:lnSpc>
                <a:spcPts val="5321"/>
              </a:lnSpc>
              <a:buAutoNum type="arabicPeriod" startAt="1"/>
            </a:pPr>
            <a:r>
              <a:rPr lang="en-US" sz="3801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75228" y="775680"/>
            <a:ext cx="8937544" cy="106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9"/>
              </a:lnSpc>
            </a:pPr>
            <a:r>
              <a:rPr lang="en-US" sz="4685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CARD 03 - Acetone (propan-2-one) </a:t>
            </a:r>
          </a:p>
          <a:p>
            <a:pPr algn="ctr">
              <a:lnSpc>
                <a:spcPts val="4029"/>
              </a:lnSpc>
            </a:pPr>
            <a:r>
              <a:rPr lang="en-US" sz="4685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Molecular Formula: C₃H₆O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07288" y="2948643"/>
            <a:ext cx="4470404" cy="200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09"/>
              </a:lnSpc>
            </a:pPr>
            <a:r>
              <a:rPr lang="en-US" sz="11720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C₃H₆O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91513" y="6956954"/>
            <a:ext cx="6270250" cy="162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85"/>
              </a:lnSpc>
            </a:pPr>
            <a:r>
              <a:rPr lang="en-US" sz="9489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CH₃COCH₃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2658" y="377653"/>
            <a:ext cx="17062684" cy="9531695"/>
            <a:chOff x="0" y="0"/>
            <a:chExt cx="22750246" cy="1270892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6528"/>
              <a:ext cx="22750246" cy="12612398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750246" cy="2514190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E5181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7095"/>
              <a:ext cx="22750246" cy="1257095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05CC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21727" y="10122475"/>
              <a:ext cx="2238814" cy="753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4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06" y="2273439"/>
            <a:ext cx="0" cy="7635908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12658" y="5683752"/>
            <a:ext cx="17062684" cy="0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942434">
            <a:off x="11294366" y="2875558"/>
            <a:ext cx="3868337" cy="2991301"/>
          </a:xfrm>
          <a:custGeom>
            <a:avLst/>
            <a:gdLst/>
            <a:ahLst/>
            <a:cxnLst/>
            <a:rect r="r" b="b" t="t" l="l"/>
            <a:pathLst>
              <a:path h="2991301" w="3868337">
                <a:moveTo>
                  <a:pt x="0" y="0"/>
                </a:moveTo>
                <a:lnTo>
                  <a:pt x="3868337" y="0"/>
                </a:lnTo>
                <a:lnTo>
                  <a:pt x="3868337" y="2991301"/>
                </a:lnTo>
                <a:lnTo>
                  <a:pt x="0" y="2991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034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097819" y="6723311"/>
            <a:ext cx="2457338" cy="2657217"/>
          </a:xfrm>
          <a:custGeom>
            <a:avLst/>
            <a:gdLst/>
            <a:ahLst/>
            <a:cxnLst/>
            <a:rect r="r" b="b" t="t" l="l"/>
            <a:pathLst>
              <a:path h="2657217" w="2457338">
                <a:moveTo>
                  <a:pt x="0" y="0"/>
                </a:moveTo>
                <a:lnTo>
                  <a:pt x="2457338" y="0"/>
                </a:lnTo>
                <a:lnTo>
                  <a:pt x="2457338" y="2657217"/>
                </a:lnTo>
                <a:lnTo>
                  <a:pt x="0" y="26572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2196513" y="2501514"/>
            <a:ext cx="4996750" cy="64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5186" indent="-407593" lvl="1">
              <a:lnSpc>
                <a:spcPts val="5286"/>
              </a:lnSpc>
              <a:buAutoNum type="arabicPeriod" startAt="1"/>
            </a:pPr>
            <a:r>
              <a:rPr lang="en-US" sz="3775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7594" y="2331586"/>
            <a:ext cx="4337788" cy="64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5186" indent="-407593" lvl="1">
              <a:lnSpc>
                <a:spcPts val="5286"/>
              </a:lnSpc>
              <a:buAutoNum type="arabicPeriod" startAt="1"/>
            </a:pPr>
            <a:r>
              <a:rPr lang="en-US" sz="3775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7868" y="6077662"/>
            <a:ext cx="7314040" cy="64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4160" indent="-407080" lvl="1">
              <a:lnSpc>
                <a:spcPts val="5279"/>
              </a:lnSpc>
              <a:buAutoNum type="arabicPeriod" startAt="1"/>
            </a:pPr>
            <a:r>
              <a:rPr lang="en-US" sz="3771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7787" y="6077662"/>
            <a:ext cx="6997402" cy="64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4160" indent="-407080" lvl="1">
              <a:lnSpc>
                <a:spcPts val="5279"/>
              </a:lnSpc>
              <a:buAutoNum type="arabicPeriod" startAt="1"/>
            </a:pPr>
            <a:r>
              <a:rPr lang="en-US" sz="3771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76132" y="865308"/>
            <a:ext cx="8514947" cy="105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7"/>
              </a:lnSpc>
            </a:pPr>
            <a:r>
              <a:rPr lang="en-US" sz="4648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CARD 04 - Acetic Acid (ethanoic acid) </a:t>
            </a:r>
          </a:p>
          <a:p>
            <a:pPr algn="ctr">
              <a:lnSpc>
                <a:spcPts val="3997"/>
              </a:lnSpc>
            </a:pPr>
            <a:r>
              <a:rPr lang="en-US" sz="4648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Molecular Formula: C₂H₄O₂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65160" y="2887458"/>
            <a:ext cx="5821943" cy="240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5"/>
              </a:lnSpc>
            </a:pPr>
            <a:r>
              <a:rPr lang="en-US" sz="14139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C₂H₄O₂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0530" y="6950609"/>
            <a:ext cx="6220596" cy="160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0"/>
              </a:lnSpc>
            </a:pPr>
            <a:r>
              <a:rPr lang="en-US" sz="9414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CH₃COOH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4011" y="328132"/>
            <a:ext cx="17239977" cy="9630735"/>
            <a:chOff x="0" y="0"/>
            <a:chExt cx="22986636" cy="1284098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7531"/>
              <a:ext cx="22986636" cy="12743449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986636" cy="2540314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E5181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70157"/>
              <a:ext cx="22986636" cy="1270157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05CC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804829" y="10227654"/>
              <a:ext cx="2262077" cy="7614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96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498" y="2243617"/>
            <a:ext cx="0" cy="7715250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24011" y="5689365"/>
            <a:ext cx="17239977" cy="0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947795" y="3126298"/>
            <a:ext cx="5151011" cy="2420588"/>
          </a:xfrm>
          <a:custGeom>
            <a:avLst/>
            <a:gdLst/>
            <a:ahLst/>
            <a:cxnLst/>
            <a:rect r="r" b="b" t="t" l="l"/>
            <a:pathLst>
              <a:path h="2420588" w="5151011">
                <a:moveTo>
                  <a:pt x="0" y="0"/>
                </a:moveTo>
                <a:lnTo>
                  <a:pt x="5151010" y="0"/>
                </a:lnTo>
                <a:lnTo>
                  <a:pt x="5151010" y="2420587"/>
                </a:lnTo>
                <a:lnTo>
                  <a:pt x="0" y="2420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87578" y="6739726"/>
            <a:ext cx="2964737" cy="2893496"/>
          </a:xfrm>
          <a:custGeom>
            <a:avLst/>
            <a:gdLst/>
            <a:ahLst/>
            <a:cxnLst/>
            <a:rect r="r" b="b" t="t" l="l"/>
            <a:pathLst>
              <a:path h="2893496" w="2964737">
                <a:moveTo>
                  <a:pt x="0" y="0"/>
                </a:moveTo>
                <a:lnTo>
                  <a:pt x="2964738" y="0"/>
                </a:lnTo>
                <a:lnTo>
                  <a:pt x="2964738" y="2893496"/>
                </a:lnTo>
                <a:lnTo>
                  <a:pt x="0" y="28934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2124324" y="2465329"/>
            <a:ext cx="5048669" cy="66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3657" indent="-411828" lvl="1">
              <a:lnSpc>
                <a:spcPts val="5340"/>
              </a:lnSpc>
              <a:buAutoNum type="arabicPeriod" startAt="1"/>
            </a:pPr>
            <a:r>
              <a:rPr lang="en-US" sz="3814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78516" y="2465329"/>
            <a:ext cx="4382861" cy="66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3657" indent="-411828" lvl="1">
              <a:lnSpc>
                <a:spcPts val="5340"/>
              </a:lnSpc>
              <a:buAutoNum type="arabicPeriod" startAt="1"/>
            </a:pPr>
            <a:r>
              <a:rPr lang="en-US" sz="3814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3640" y="6078635"/>
            <a:ext cx="7390038" cy="66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2619" indent="-411310" lvl="1">
              <a:lnSpc>
                <a:spcPts val="5334"/>
              </a:lnSpc>
              <a:buAutoNum type="arabicPeriod" startAt="1"/>
            </a:pPr>
            <a:r>
              <a:rPr lang="en-US" sz="3810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4892" y="6078635"/>
            <a:ext cx="7070110" cy="66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619" indent="-411310" lvl="1">
              <a:lnSpc>
                <a:spcPts val="5334"/>
              </a:lnSpc>
              <a:buAutoNum type="arabicPeriod" startAt="1"/>
            </a:pPr>
            <a:r>
              <a:rPr lang="en-US" sz="3810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09075" y="803982"/>
            <a:ext cx="9669850" cy="106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sz="4697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CARD 05 -  Ethyl acetate (ethyl ethanoate)</a:t>
            </a:r>
          </a:p>
          <a:p>
            <a:pPr algn="ctr">
              <a:lnSpc>
                <a:spcPts val="4039"/>
              </a:lnSpc>
            </a:pPr>
            <a:r>
              <a:rPr lang="en-US" sz="4697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Molecular Formula: C₄H₈O₂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23073" y="3070228"/>
            <a:ext cx="5271579" cy="222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1"/>
              </a:lnSpc>
            </a:pPr>
            <a:r>
              <a:rPr lang="en-US" sz="13001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C₄H₈O₂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3972" y="7155425"/>
            <a:ext cx="7469782" cy="135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0"/>
              </a:lnSpc>
            </a:pPr>
            <a:r>
              <a:rPr lang="en-US" sz="7943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CH₃COOCH₂CH₃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6358" y="335030"/>
            <a:ext cx="17215284" cy="9616941"/>
            <a:chOff x="0" y="0"/>
            <a:chExt cx="22953712" cy="128225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7391"/>
              <a:ext cx="22953712" cy="12725197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953712" cy="2536676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E5181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68338"/>
              <a:ext cx="22953712" cy="1268338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05CC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779327" y="10213005"/>
              <a:ext cx="2258837" cy="760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90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513" y="2247771"/>
            <a:ext cx="0" cy="7704200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36358" y="5688584"/>
            <a:ext cx="17215284" cy="0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2038712" y="2891233"/>
            <a:ext cx="3182926" cy="2900894"/>
          </a:xfrm>
          <a:custGeom>
            <a:avLst/>
            <a:gdLst/>
            <a:ahLst/>
            <a:cxnLst/>
            <a:rect r="r" b="b" t="t" l="l"/>
            <a:pathLst>
              <a:path h="2900894" w="3182926">
                <a:moveTo>
                  <a:pt x="0" y="0"/>
                </a:moveTo>
                <a:lnTo>
                  <a:pt x="3182926" y="0"/>
                </a:lnTo>
                <a:lnTo>
                  <a:pt x="3182926" y="2900894"/>
                </a:lnTo>
                <a:lnTo>
                  <a:pt x="0" y="2900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582400" y="6737440"/>
            <a:ext cx="2982366" cy="2936223"/>
          </a:xfrm>
          <a:custGeom>
            <a:avLst/>
            <a:gdLst/>
            <a:ahLst/>
            <a:cxnLst/>
            <a:rect r="r" b="b" t="t" l="l"/>
            <a:pathLst>
              <a:path h="2936223" w="2982366">
                <a:moveTo>
                  <a:pt x="0" y="0"/>
                </a:moveTo>
                <a:lnTo>
                  <a:pt x="2982366" y="0"/>
                </a:lnTo>
                <a:lnTo>
                  <a:pt x="2982366" y="2936223"/>
                </a:lnTo>
                <a:lnTo>
                  <a:pt x="0" y="2936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22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2134378" y="2469042"/>
            <a:ext cx="5041438" cy="6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477" indent="-411239" lvl="1">
              <a:lnSpc>
                <a:spcPts val="5333"/>
              </a:lnSpc>
              <a:buAutoNum type="arabicPeriod" startAt="1"/>
            </a:pPr>
            <a:r>
              <a:rPr lang="en-US" sz="3809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89379" y="2359985"/>
            <a:ext cx="4376583" cy="6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477" indent="-411239" lvl="1">
              <a:lnSpc>
                <a:spcPts val="5333"/>
              </a:lnSpc>
              <a:buAutoNum type="arabicPeriod" startAt="1"/>
            </a:pPr>
            <a:r>
              <a:rPr lang="en-US" sz="3809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371" y="6077173"/>
            <a:ext cx="7379453" cy="660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1441" indent="-410721" lvl="1">
              <a:lnSpc>
                <a:spcPts val="5326"/>
              </a:lnSpc>
              <a:buAutoNum type="arabicPeriod" startAt="1"/>
            </a:pPr>
            <a:r>
              <a:rPr lang="en-US" sz="3804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902" y="6077173"/>
            <a:ext cx="7059983" cy="660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441" indent="-410721" lvl="1">
              <a:lnSpc>
                <a:spcPts val="5326"/>
              </a:lnSpc>
              <a:buAutoNum type="arabicPeriod" startAt="1"/>
            </a:pPr>
            <a:r>
              <a:rPr lang="en-US" sz="3804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66593" y="809870"/>
            <a:ext cx="6354813" cy="106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3"/>
              </a:lnSpc>
            </a:pPr>
            <a:r>
              <a:rPr lang="en-US" sz="4690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CARD 06 - Cyclohexane</a:t>
            </a:r>
          </a:p>
          <a:p>
            <a:pPr algn="ctr">
              <a:lnSpc>
                <a:spcPts val="4033"/>
              </a:lnSpc>
            </a:pPr>
            <a:r>
              <a:rPr lang="en-US" sz="4690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Molecular Formula: C₆H₁₂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62835" y="2860227"/>
            <a:ext cx="4784525" cy="2436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2"/>
              </a:lnSpc>
            </a:pPr>
            <a:r>
              <a:rPr lang="en-US" sz="14266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C₆H₁₂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80173" y="6749047"/>
            <a:ext cx="4940495" cy="230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68"/>
              </a:lnSpc>
            </a:pPr>
            <a:r>
              <a:rPr lang="en-US" sz="13549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(CH₂)₆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0878" y="309623"/>
            <a:ext cx="17306243" cy="9667754"/>
            <a:chOff x="0" y="0"/>
            <a:chExt cx="23074991" cy="1289033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7906"/>
              <a:ext cx="23074991" cy="12792432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3074991" cy="2550078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E5181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75039"/>
              <a:ext cx="23074991" cy="1275039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05CC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873267" y="10257442"/>
              <a:ext cx="2270771" cy="773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14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457" y="2232471"/>
            <a:ext cx="0" cy="7744906"/>
          </a:xfrm>
          <a:prstGeom prst="line">
            <a:avLst/>
          </a:prstGeom>
          <a:ln cap="flat" w="57150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490878" y="5691464"/>
            <a:ext cx="17306243" cy="0"/>
          </a:xfrm>
          <a:prstGeom prst="line">
            <a:avLst/>
          </a:prstGeom>
          <a:ln cap="flat" w="57150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2175599" y="2931828"/>
            <a:ext cx="2936328" cy="2846602"/>
          </a:xfrm>
          <a:custGeom>
            <a:avLst/>
            <a:gdLst/>
            <a:ahLst/>
            <a:cxnLst/>
            <a:rect r="r" b="b" t="t" l="l"/>
            <a:pathLst>
              <a:path h="2846602" w="2936328">
                <a:moveTo>
                  <a:pt x="0" y="0"/>
                </a:moveTo>
                <a:lnTo>
                  <a:pt x="2936328" y="0"/>
                </a:lnTo>
                <a:lnTo>
                  <a:pt x="2936328" y="2846602"/>
                </a:lnTo>
                <a:lnTo>
                  <a:pt x="0" y="2846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52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1734258" y="6336956"/>
            <a:ext cx="2968764" cy="3786575"/>
          </a:xfrm>
          <a:custGeom>
            <a:avLst/>
            <a:gdLst/>
            <a:ahLst/>
            <a:cxnLst/>
            <a:rect r="r" b="b" t="t" l="l"/>
            <a:pathLst>
              <a:path h="3786575" w="2968764">
                <a:moveTo>
                  <a:pt x="0" y="0"/>
                </a:moveTo>
                <a:lnTo>
                  <a:pt x="2968764" y="0"/>
                </a:lnTo>
                <a:lnTo>
                  <a:pt x="2968764" y="3786575"/>
                </a:lnTo>
                <a:lnTo>
                  <a:pt x="0" y="3786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2097342" y="2455364"/>
            <a:ext cx="5068075" cy="66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6823" indent="-413411" lvl="1">
              <a:lnSpc>
                <a:spcPts val="5361"/>
              </a:lnSpc>
              <a:buAutoNum type="arabicPeriod" startAt="1"/>
            </a:pPr>
            <a:r>
              <a:rPr lang="en-US" sz="3829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86337" y="2268648"/>
            <a:ext cx="4399708" cy="66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6823" indent="-413411" lvl="1">
              <a:lnSpc>
                <a:spcPts val="5361"/>
              </a:lnSpc>
              <a:buAutoNum type="arabicPeriod" startAt="1"/>
            </a:pPr>
            <a:r>
              <a:rPr lang="en-US" sz="3829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2158" y="6082559"/>
            <a:ext cx="7418443" cy="66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5781" indent="-412891" lvl="1">
              <a:lnSpc>
                <a:spcPts val="5354"/>
              </a:lnSpc>
              <a:buAutoNum type="arabicPeriod" startAt="1"/>
            </a:pPr>
            <a:r>
              <a:rPr lang="en-US" sz="3824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7548" y="6082559"/>
            <a:ext cx="7097286" cy="66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5781" indent="-412891" lvl="1">
              <a:lnSpc>
                <a:spcPts val="5354"/>
              </a:lnSpc>
              <a:buAutoNum type="arabicPeriod" startAt="1"/>
            </a:pPr>
            <a:r>
              <a:rPr lang="en-US" sz="3824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49805" y="797705"/>
            <a:ext cx="6388390" cy="108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4"/>
              </a:lnSpc>
            </a:pPr>
            <a:r>
              <a:rPr lang="en-US" sz="4715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CARD 07 - Cyclohexanone </a:t>
            </a:r>
          </a:p>
          <a:p>
            <a:pPr algn="ctr">
              <a:lnSpc>
                <a:spcPts val="4054"/>
              </a:lnSpc>
            </a:pPr>
            <a:r>
              <a:rPr lang="en-US" sz="4715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Molecular Formula: C₆H₁₀O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46371" y="2849673"/>
            <a:ext cx="5995068" cy="244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8"/>
              </a:lnSpc>
            </a:pPr>
            <a:r>
              <a:rPr lang="en-US" sz="14341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C₆H₁₀O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97342" y="7008695"/>
            <a:ext cx="5214147" cy="163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68"/>
              </a:lnSpc>
            </a:pPr>
            <a:r>
              <a:rPr lang="en-US" sz="9549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(CH₂)₅CO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3061" y="405810"/>
            <a:ext cx="16961877" cy="9475381"/>
            <a:chOff x="0" y="0"/>
            <a:chExt cx="22615836" cy="1263384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5958"/>
              <a:ext cx="22615836" cy="12537883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615836" cy="2499336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E5181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49668"/>
              <a:ext cx="22615836" cy="1249668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05CC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517618" y="10053146"/>
              <a:ext cx="2225587" cy="758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22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67" y="2290396"/>
            <a:ext cx="0" cy="7590795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63061" y="5680560"/>
            <a:ext cx="16961877" cy="0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667661" y="6901626"/>
            <a:ext cx="4790197" cy="2356674"/>
          </a:xfrm>
          <a:custGeom>
            <a:avLst/>
            <a:gdLst/>
            <a:ahLst/>
            <a:cxnLst/>
            <a:rect r="r" b="b" t="t" l="l"/>
            <a:pathLst>
              <a:path h="2356674" w="4790197">
                <a:moveTo>
                  <a:pt x="0" y="0"/>
                </a:moveTo>
                <a:lnTo>
                  <a:pt x="4790197" y="0"/>
                </a:lnTo>
                <a:lnTo>
                  <a:pt x="4790197" y="2356674"/>
                </a:lnTo>
                <a:lnTo>
                  <a:pt x="0" y="235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0674081" y="2875855"/>
            <a:ext cx="5359092" cy="2779933"/>
          </a:xfrm>
          <a:custGeom>
            <a:avLst/>
            <a:gdLst/>
            <a:ahLst/>
            <a:cxnLst/>
            <a:rect r="r" b="b" t="t" l="l"/>
            <a:pathLst>
              <a:path h="2779933" w="5359092">
                <a:moveTo>
                  <a:pt x="0" y="0"/>
                </a:moveTo>
                <a:lnTo>
                  <a:pt x="5359092" y="0"/>
                </a:lnTo>
                <a:lnTo>
                  <a:pt x="5359092" y="2779933"/>
                </a:lnTo>
                <a:lnTo>
                  <a:pt x="0" y="2779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37559" y="2516673"/>
            <a:ext cx="4967229" cy="64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0370" indent="-405185" lvl="1">
              <a:lnSpc>
                <a:spcPts val="5254"/>
              </a:lnSpc>
              <a:buAutoNum type="arabicPeriod" startAt="1"/>
            </a:pPr>
            <a:r>
              <a:rPr lang="en-US" sz="3753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45697" y="2321326"/>
            <a:ext cx="4312161" cy="64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0370" indent="-405185" lvl="1">
              <a:lnSpc>
                <a:spcPts val="5254"/>
              </a:lnSpc>
              <a:buAutoNum type="arabicPeriod" startAt="1"/>
            </a:pPr>
            <a:r>
              <a:rPr lang="en-US" sz="3753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5759" y="6071693"/>
            <a:ext cx="7270828" cy="64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09350" indent="-404675" lvl="1">
              <a:lnSpc>
                <a:spcPts val="5248"/>
              </a:lnSpc>
              <a:buAutoNum type="arabicPeriod" startAt="1"/>
            </a:pPr>
            <a:r>
              <a:rPr lang="en-US" sz="3748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3747" y="6071693"/>
            <a:ext cx="6956061" cy="64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9350" indent="-404675" lvl="1">
              <a:lnSpc>
                <a:spcPts val="5248"/>
              </a:lnSpc>
              <a:buAutoNum type="arabicPeriod" startAt="1"/>
            </a:pPr>
            <a:r>
              <a:rPr lang="en-US" sz="3748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99633" y="851245"/>
            <a:ext cx="9688735" cy="104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</a:pPr>
            <a:r>
              <a:rPr lang="en-US" sz="4621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CARD 08 - Acetaminophen (paracetamol)</a:t>
            </a:r>
          </a:p>
          <a:p>
            <a:pPr algn="ctr">
              <a:lnSpc>
                <a:spcPts val="3974"/>
              </a:lnSpc>
            </a:pPr>
            <a:r>
              <a:rPr lang="en-US" sz="4621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Molecular Formula: C₈H₉NO₂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61228" y="3103567"/>
            <a:ext cx="6186216" cy="2106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62"/>
              </a:lnSpc>
            </a:pPr>
            <a:r>
              <a:rPr lang="en-US" sz="12330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C₈H₉NO₂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3536" y="7139409"/>
            <a:ext cx="6981600" cy="117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7"/>
              </a:lnSpc>
            </a:pPr>
            <a:r>
              <a:rPr lang="en-US" sz="6876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HOC₆H₄NHCOCH₃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2191" y="388565"/>
            <a:ext cx="17023618" cy="9509871"/>
            <a:chOff x="0" y="0"/>
            <a:chExt cx="22698157" cy="1267982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6307"/>
              <a:ext cx="22698157" cy="12583521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698157" cy="2508433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E5181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4217"/>
              <a:ext cx="22698157" cy="1254217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05CC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581381" y="10099298"/>
              <a:ext cx="2233688" cy="751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8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30" y="2280011"/>
            <a:ext cx="0" cy="7618425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32191" y="5682515"/>
            <a:ext cx="17023618" cy="0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484799" y="6719694"/>
            <a:ext cx="3256257" cy="2538606"/>
          </a:xfrm>
          <a:custGeom>
            <a:avLst/>
            <a:gdLst/>
            <a:ahLst/>
            <a:cxnLst/>
            <a:rect r="r" b="b" t="t" l="l"/>
            <a:pathLst>
              <a:path h="2538606" w="3256257">
                <a:moveTo>
                  <a:pt x="0" y="0"/>
                </a:moveTo>
                <a:lnTo>
                  <a:pt x="3256258" y="0"/>
                </a:lnTo>
                <a:lnTo>
                  <a:pt x="3256258" y="2538606"/>
                </a:lnTo>
                <a:lnTo>
                  <a:pt x="0" y="2538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0810905" y="2655678"/>
            <a:ext cx="4604045" cy="2893971"/>
          </a:xfrm>
          <a:custGeom>
            <a:avLst/>
            <a:gdLst/>
            <a:ahLst/>
            <a:cxnLst/>
            <a:rect r="r" b="b" t="t" l="l"/>
            <a:pathLst>
              <a:path h="2893971" w="4604045">
                <a:moveTo>
                  <a:pt x="0" y="0"/>
                </a:moveTo>
                <a:lnTo>
                  <a:pt x="4604046" y="0"/>
                </a:lnTo>
                <a:lnTo>
                  <a:pt x="4604046" y="2893971"/>
                </a:lnTo>
                <a:lnTo>
                  <a:pt x="0" y="2893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12420" y="2507389"/>
            <a:ext cx="4985309" cy="64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320" indent="-406660" lvl="1">
              <a:lnSpc>
                <a:spcPts val="5273"/>
              </a:lnSpc>
              <a:buAutoNum type="arabicPeriod" startAt="1"/>
            </a:pPr>
            <a:r>
              <a:rPr lang="en-US" sz="3767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2983" y="2295465"/>
            <a:ext cx="4327857" cy="64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320" indent="-406660" lvl="1">
              <a:lnSpc>
                <a:spcPts val="5273"/>
              </a:lnSpc>
              <a:buAutoNum type="arabicPeriod" startAt="1"/>
            </a:pPr>
            <a:r>
              <a:rPr lang="en-US" sz="3767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6428" y="6075348"/>
            <a:ext cx="7297294" cy="64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2296" indent="-406148" lvl="1">
              <a:lnSpc>
                <a:spcPts val="5267"/>
              </a:lnSpc>
              <a:buAutoNum type="arabicPeriod" startAt="1"/>
            </a:pPr>
            <a:r>
              <a:rPr lang="en-US" sz="3762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6221" y="6075348"/>
            <a:ext cx="6981381" cy="64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2296" indent="-406148" lvl="1">
              <a:lnSpc>
                <a:spcPts val="5267"/>
              </a:lnSpc>
              <a:buAutoNum type="arabicPeriod" startAt="1"/>
            </a:pPr>
            <a:r>
              <a:rPr lang="en-US" sz="3762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75022" y="865098"/>
            <a:ext cx="8737956" cy="106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8"/>
              </a:lnSpc>
            </a:pPr>
            <a:r>
              <a:rPr lang="en-US" sz="4638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CARD 09 - Aspirin (acetylsalicylicacid)</a:t>
            </a:r>
          </a:p>
          <a:p>
            <a:pPr algn="ctr">
              <a:lnSpc>
                <a:spcPts val="3988"/>
              </a:lnSpc>
            </a:pPr>
            <a:r>
              <a:rPr lang="en-US" sz="4638" i="true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Molecular Formula: C₉H₈O₄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46770" y="2891991"/>
            <a:ext cx="5970955" cy="240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50"/>
              </a:lnSpc>
            </a:pPr>
            <a:r>
              <a:rPr lang="en-US" sz="14107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C₉H₈O₄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1396" y="7156719"/>
            <a:ext cx="6912326" cy="108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2"/>
              </a:lnSpc>
            </a:pPr>
            <a:r>
              <a:rPr lang="en-US" sz="6316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CH₃COOC₆H₄COOH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5551" y="526609"/>
            <a:ext cx="16996898" cy="9494944"/>
            <a:chOff x="0" y="0"/>
            <a:chExt cx="22662530" cy="1265992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6156"/>
              <a:ext cx="22662530" cy="12563770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662530" cy="2504496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E5181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2248"/>
              <a:ext cx="22662530" cy="1252248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05CC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553785" y="10083447"/>
              <a:ext cx="2230182" cy="750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1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46" y="2415086"/>
            <a:ext cx="0" cy="7606467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45551" y="5812250"/>
            <a:ext cx="16996898" cy="0"/>
          </a:xfrm>
          <a:prstGeom prst="line">
            <a:avLst/>
          </a:prstGeom>
          <a:ln cap="flat" w="476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206148" y="6847801"/>
            <a:ext cx="3598829" cy="3025503"/>
          </a:xfrm>
          <a:custGeom>
            <a:avLst/>
            <a:gdLst/>
            <a:ahLst/>
            <a:cxnLst/>
            <a:rect r="r" b="b" t="t" l="l"/>
            <a:pathLst>
              <a:path h="3025503" w="3598829">
                <a:moveTo>
                  <a:pt x="0" y="0"/>
                </a:moveTo>
                <a:lnTo>
                  <a:pt x="3598829" y="0"/>
                </a:lnTo>
                <a:lnTo>
                  <a:pt x="3598829" y="3025503"/>
                </a:lnTo>
                <a:lnTo>
                  <a:pt x="0" y="3025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1566227" y="3001754"/>
            <a:ext cx="3488269" cy="2643549"/>
          </a:xfrm>
          <a:custGeom>
            <a:avLst/>
            <a:gdLst/>
            <a:ahLst/>
            <a:cxnLst/>
            <a:rect r="r" b="b" t="t" l="l"/>
            <a:pathLst>
              <a:path h="2643549" w="3488269">
                <a:moveTo>
                  <a:pt x="0" y="0"/>
                </a:moveTo>
                <a:lnTo>
                  <a:pt x="3488270" y="0"/>
                </a:lnTo>
                <a:lnTo>
                  <a:pt x="3488270" y="2643549"/>
                </a:lnTo>
                <a:lnTo>
                  <a:pt x="0" y="2643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23300" y="2641987"/>
            <a:ext cx="4977484" cy="64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2043" indent="-406022" lvl="1">
              <a:lnSpc>
                <a:spcPts val="5265"/>
              </a:lnSpc>
              <a:buAutoNum type="arabicPeriod" startAt="1"/>
            </a:pPr>
            <a:r>
              <a:rPr lang="en-US" sz="3761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64701" y="2468817"/>
            <a:ext cx="4321064" cy="64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2043" indent="-406022" lvl="1">
              <a:lnSpc>
                <a:spcPts val="5265"/>
              </a:lnSpc>
              <a:buAutoNum type="arabicPeriod" startAt="1"/>
            </a:pPr>
            <a:r>
              <a:rPr lang="en-US" sz="3761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9122" y="6204347"/>
            <a:ext cx="7285840" cy="64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1021" indent="-405510" lvl="1">
              <a:lnSpc>
                <a:spcPts val="5259"/>
              </a:lnSpc>
              <a:buAutoNum type="arabicPeriod" startAt="1"/>
            </a:pPr>
            <a:r>
              <a:rPr lang="en-US" sz="3756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5151" y="6204347"/>
            <a:ext cx="6970423" cy="64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021" indent="-405510" lvl="1">
              <a:lnSpc>
                <a:spcPts val="5259"/>
              </a:lnSpc>
              <a:buAutoNum type="arabicPeriod" startAt="1"/>
            </a:pPr>
            <a:r>
              <a:rPr lang="en-US" sz="3756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92269" y="1005225"/>
            <a:ext cx="7303461" cy="106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2"/>
              </a:lnSpc>
            </a:pPr>
            <a:r>
              <a:rPr lang="en-US" sz="4630" i="true" spc="217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CARD 10 - Caffeine</a:t>
            </a:r>
          </a:p>
          <a:p>
            <a:pPr algn="ctr">
              <a:lnSpc>
                <a:spcPts val="3982"/>
              </a:lnSpc>
            </a:pPr>
            <a:r>
              <a:rPr lang="en-US" sz="4630" i="true" spc="217">
                <a:solidFill>
                  <a:srgbClr val="FEF751"/>
                </a:solidFill>
                <a:latin typeface="Bangers"/>
                <a:ea typeface="Bangers"/>
                <a:cs typeface="Bangers"/>
                <a:sym typeface="Bangers"/>
              </a:rPr>
              <a:t>Molecular Formula: C₈H₁₀N₄O₂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2050" y="3330501"/>
            <a:ext cx="6852911" cy="194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3"/>
              </a:lnSpc>
            </a:pPr>
            <a:r>
              <a:rPr lang="en-US" sz="11373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C₈H₁₀N₄O₂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5586" y="6888409"/>
            <a:ext cx="6852911" cy="194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3"/>
              </a:lnSpc>
            </a:pPr>
            <a:r>
              <a:rPr lang="en-US" sz="11373" i="true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C₈H₁₀N₄O₂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DAHXD5E-vOI</dc:identifier>
  <dcterms:modified xsi:type="dcterms:W3CDTF">2011-08-01T06:04:30Z</dcterms:modified>
  <cp:revision>1</cp:revision>
  <dc:title>002_molecule_representation_source_yaba</dc:title>
</cp:coreProperties>
</file>